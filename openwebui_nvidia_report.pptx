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9" d="100"/>
          <a:sy n="169" d="100"/>
        </p:scale>
        <p:origin x="19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1E293B"/>
                </a:solidFill>
                <a:latin typeface="Arial"/>
              </a:rPr>
              <a:t>Latency (ms)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10 Users</c:v>
                </c:pt>
              </c:strCache>
            </c:strRef>
          </c:tx>
          <c:spPr>
            <a:solidFill>
              <a:srgbClr val="76B90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RAG TTFT avg</c:v>
                </c:pt>
                <c:pt idx="1">
                  <c:v>PLAIN TTFT avg</c:v>
                </c:pt>
                <c:pt idx="2">
                  <c:v>RAG Overhead avg</c:v>
                </c:pt>
                <c:pt idx="3">
                  <c:v>RAG E2E avg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10374</c:v>
                </c:pt>
                <c:pt idx="1">
                  <c:v>3249</c:v>
                </c:pt>
                <c:pt idx="2">
                  <c:v>8440</c:v>
                </c:pt>
                <c:pt idx="3">
                  <c:v>11803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D37-E349-A06C-A76D56767D7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100 Users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RAG TTFT avg</c:v>
                </c:pt>
                <c:pt idx="1">
                  <c:v>PLAIN TTFT avg</c:v>
                </c:pt>
                <c:pt idx="2">
                  <c:v>RAG Overhead avg</c:v>
                </c:pt>
                <c:pt idx="3">
                  <c:v>RAG E2E avg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50497</c:v>
                </c:pt>
                <c:pt idx="1">
                  <c:v>20373</c:v>
                </c:pt>
                <c:pt idx="2">
                  <c:v>27148</c:v>
                </c:pt>
                <c:pt idx="3">
                  <c:v>52475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D37-E349-A06C-A76D56767D7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08486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412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AI Stack on NVIDIA Hardware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993392"/>
            <a:ext cx="8229600" cy="45720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20848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6B900"/>
                </a:solidFill>
              </a:rPr>
              <a:t>Open WebUI  ·  vLLM  ·  Docling  ·  Embeddings  ·  Reranker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6974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BD5E1"/>
                </a:solidFill>
              </a:rPr>
              <a:t>DGX Spark  (GB10 · Blackwell sm_121 · 128 GB unified)</a:t>
            </a:r>
            <a:endParaRPr lang="en-US" sz="1500" dirty="0"/>
          </a:p>
          <a:p>
            <a:pPr marL="0" indent="0">
              <a:buNone/>
            </a:pPr>
            <a:r>
              <a:rPr lang="en-US" sz="1500" i="1" dirty="0">
                <a:solidFill>
                  <a:srgbClr val="CBD5E1"/>
                </a:solidFill>
              </a:rPr>
              <a:t>RTX PRO 6000 Blackwell  (96 GB GDDR7)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3520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</a:rPr>
              <a:t>Model: nvidia/NVIDIA-Nemotron-3-Nano-30B-A3B-NVFP4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446227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Deployment &amp; Benchmark Report  ·  April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94360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01168" y="0"/>
            <a:ext cx="8778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Agenda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4160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804672"/>
            <a:ext cx="64008" cy="1828800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84632" y="9144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</a:rPr>
              <a:t>🏗  Architecture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84632" y="1371600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Full service stack: Open WebUI, vLLM, Docling, Embedder, Reranker, Qdrant — wired together with Docker Compose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00600" y="804672"/>
            <a:ext cx="4160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800600" y="804672"/>
            <a:ext cx="64008" cy="1828800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965192" y="9144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</a:rPr>
              <a:t>🖥  Hardware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65192" y="1371600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DGX Spark (GB10 / 128 GB unified) and RTX PRO 6000 Blackwell (96 GB GDDR7) — memory budgets &amp; topology options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2862072"/>
            <a:ext cx="4160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0040" y="2862072"/>
            <a:ext cx="64008" cy="1828800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4632" y="29718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</a:rPr>
              <a:t>📊  Benchmarks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84632" y="3429000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Locust load tests: 10 and 100 concurrent users · RAG vs PLAIN queries · TTFT, ITL, TPS, E2E, RAG overhead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00600" y="2862072"/>
            <a:ext cx="4160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800600" y="2862072"/>
            <a:ext cx="64008" cy="1828800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965192" y="29718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</a:rPr>
              <a:t>🚀  Optimisation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965192" y="3429000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Chunked prefill + MAX_NUM_SEQS tuning results, and a prioritised roadmap for further performance gains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94360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01168" y="0"/>
            <a:ext cx="8778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Stack Architecture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926080" y="822960"/>
            <a:ext cx="3291840" cy="640080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926080" y="82296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Open WebUI  :3000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2194560"/>
            <a:ext cx="1554480" cy="80467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2194560"/>
            <a:ext cx="1554480" cy="5230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vLLM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:8000/v1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717597"/>
            <a:ext cx="1554480" cy="3057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6B900"/>
                </a:solidFill>
              </a:rPr>
              <a:t>GPU · Inference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280160" y="1463040"/>
            <a:ext cx="0" cy="731520"/>
          </a:xfrm>
          <a:prstGeom prst="line">
            <a:avLst/>
          </a:prstGeom>
          <a:noFill/>
          <a:ln w="15240">
            <a:solidFill>
              <a:srgbClr val="94A3B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148840" y="2194560"/>
            <a:ext cx="1554480" cy="80467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148840" y="2194560"/>
            <a:ext cx="1554480" cy="5230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Infinity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:7997/v1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148840" y="2717597"/>
            <a:ext cx="1554480" cy="3057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6B900"/>
                </a:solidFill>
              </a:rPr>
              <a:t>GPU · Embeddings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926080" y="1463040"/>
            <a:ext cx="0" cy="731520"/>
          </a:xfrm>
          <a:prstGeom prst="line">
            <a:avLst/>
          </a:prstGeom>
          <a:noFill/>
          <a:ln w="15240">
            <a:solidFill>
              <a:srgbClr val="94A3B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794760" y="2194560"/>
            <a:ext cx="1554480" cy="80467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794760" y="2194560"/>
            <a:ext cx="1554480" cy="5230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Docling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:5001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794760" y="2717597"/>
            <a:ext cx="1554480" cy="3057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6B900"/>
                </a:solidFill>
              </a:rPr>
              <a:t>GPU · OCR/Extract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0" y="1463040"/>
            <a:ext cx="0" cy="731520"/>
          </a:xfrm>
          <a:prstGeom prst="line">
            <a:avLst/>
          </a:prstGeom>
          <a:noFill/>
          <a:ln w="15240">
            <a:solidFill>
              <a:srgbClr val="94A3B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440680" y="2194560"/>
            <a:ext cx="1554480" cy="8046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440680" y="2194560"/>
            <a:ext cx="1554480" cy="5230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BD5E1"/>
                </a:solidFill>
              </a:rPr>
              <a:t>Reranker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CBD5E1"/>
                </a:solidFill>
              </a:rPr>
              <a:t>:7998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40680" y="2717597"/>
            <a:ext cx="1554480" cy="3057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6B900"/>
                </a:solidFill>
              </a:rPr>
              <a:t>GPU · optional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217920" y="1463040"/>
            <a:ext cx="0" cy="731520"/>
          </a:xfrm>
          <a:prstGeom prst="line">
            <a:avLst/>
          </a:prstGeom>
          <a:noFill/>
          <a:ln w="15240">
            <a:solidFill>
              <a:srgbClr val="94A3B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086600" y="2194560"/>
            <a:ext cx="1554480" cy="8046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086600" y="2194560"/>
            <a:ext cx="1554480" cy="5230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BD5E1"/>
                </a:solidFill>
              </a:rPr>
              <a:t>Qdrant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CBD5E1"/>
                </a:solidFill>
              </a:rPr>
              <a:t>:6333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086600" y="2717597"/>
            <a:ext cx="1554480" cy="3057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6B900"/>
                </a:solidFill>
              </a:rPr>
              <a:t>CPU · optional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863840" y="1463040"/>
            <a:ext cx="0" cy="731520"/>
          </a:xfrm>
          <a:prstGeom prst="line">
            <a:avLst/>
          </a:prstGeom>
          <a:noFill/>
          <a:ln w="15240">
            <a:solidFill>
              <a:srgbClr val="94A3B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74320" y="3246120"/>
            <a:ext cx="8595360" cy="438912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74320" y="3246120"/>
            <a:ext cx="8595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2400E"/>
                </a:solidFill>
              </a:rPr>
              <a:t>Model: nvidia/NVIDIA-Nemotron-3-Nano-30B-A3B-NVFP4  ·  Embedder: BAAI/bge-m3  ·  Reranker: BAAI/bge-reranker-v2-m3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74320" y="3822192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</a:rPr>
              <a:t>No Ollama — vLLM is the sole inference backend  ·  Custom CUDA 13.1 images required for GB10 sm_121 support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74320" y="4315968"/>
            <a:ext cx="201168" cy="201168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30352" y="43159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Core services (always on)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383280" y="4315968"/>
            <a:ext cx="201168" cy="2011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639312" y="4315968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Optional profiles (reranker · qdrant)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94360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01168" y="0"/>
            <a:ext cx="8778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DGX Spark — GB10 / Blackwell sm_121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38404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749808"/>
            <a:ext cx="64008" cy="1234440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84124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128 GB Unified Memory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225296"/>
            <a:ext cx="3566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CPU and GPU share the same pool — ideal for large KV caches and ML workloads side-by-side.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2139696"/>
            <a:ext cx="38404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74320" y="2139696"/>
            <a:ext cx="64008" cy="12344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2231136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Custom Images Required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2615184"/>
            <a:ext cx="3566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Upstream Docling &amp; Infinity target CUDA 12.x — missing sm_121 kernels cause JIT failures. Custom Dockerfiles use NGC PyTorch 26.01 (CUDA 13.1).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3529584"/>
            <a:ext cx="38404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74320" y="3529584"/>
            <a:ext cx="64008" cy="1234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3621024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vLLM: No Build Needed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005072"/>
            <a:ext cx="3566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NVIDIA's official NGC image (nvcr.io/nvidia/vllm:26.02-py3) ships with full Blackwell support out of the box.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389120" y="749808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Memory Budget (default config)</a:t>
            </a:r>
            <a:endParaRPr lang="en-US" sz="13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89120" y="1143000"/>
          <a:ext cx="4480560" cy="3218688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Component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Memory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vLLM weights (30B NVFP4)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~15 GB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vLLM KV cache (fp8, 0.55 util)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~59 GB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Embedder (BAAI/bge-m3)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~3 GB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Docling (EasyOCR + multi-lang)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~9 GB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OS + Desktop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~1 GB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76B900"/>
                          </a:solidFill>
                        </a:rPr>
                        <a:t>TOTAL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76B900"/>
                          </a:solidFill>
                        </a:rPr>
                        <a:t>~87 GB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Headroom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</a:rPr>
                        <a:t>~41 GB  ✓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389120" y="44805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</a:rPr>
              <a:t>GPU_MEMORY_UTILIZATION=0.55 · MAX_MODEL_LEN=8192 · OMP_NUM_THREADS=8 (72 ARM cores)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94360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01168" y="0"/>
            <a:ext cx="8778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RTX PRO 6000 Blackwell — Setup &amp; Deployment Topologies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850392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6B900"/>
                </a:solidFill>
              </a:rPr>
              <a:t>96 GB GDDR7  ·  Rented via brev.nvidia.com  ·  Same Docker Compose stack, dedicated VRAM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344168"/>
            <a:ext cx="49377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344168"/>
            <a:ext cx="64008" cy="868680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408176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🖥  Topology 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819656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All services on one RTX node — simplest, zero networking overhead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350008"/>
            <a:ext cx="49377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74320" y="2350008"/>
            <a:ext cx="64008" cy="868680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2414016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💻  Topology B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2825496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Open WebUI on Mac; GPU services on Brev via SSH port-forward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3355848"/>
            <a:ext cx="49377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74320" y="3355848"/>
            <a:ext cx="64008" cy="868680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3419856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🔄  Topology C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3831336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Two independent RTX stacks behind load balancer (horizontal scaling)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0" y="134416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Memory Budget (benchmark config)</a:t>
            </a:r>
            <a:endParaRPr lang="en-US" sz="13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0" y="1737360"/>
          <a:ext cx="3383280" cy="91440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Component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VRAM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vLLM (0.80 util = weights + KV)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~77 GB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Embedder (bge-m3)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~3 GB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Reranker (bge-reranker-v2-m3)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~2 GB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Docling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CPU *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76B900"/>
                          </a:solidFill>
                        </a:rPr>
                        <a:t>TOTAL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76B900"/>
                          </a:solidFill>
                        </a:rPr>
                        <a:t>~82 GB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Headroom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</a:rPr>
                        <a:t>~14 GB  ✓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0" name="Text 17"/>
          <p:cNvSpPr/>
          <p:nvPr/>
        </p:nvSpPr>
        <p:spPr>
          <a:xfrm>
            <a:off x="5486400" y="45262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</a:rPr>
              <a:t>* Docling runs on CPU during benchmarks to</a:t>
            </a:r>
            <a:endParaRPr lang="en-US" sz="900" dirty="0"/>
          </a:p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</a:rPr>
              <a:t>  maximise VRAM for vLLM KV cache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274320" y="4315968"/>
            <a:ext cx="4937760" cy="64008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320040" y="4315968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D4ED8"/>
                </a:solidFill>
              </a:rPr>
              <a:t>Quick start: git checkout bench/rtx-pro-6000  ·  cp .env.rtx6000 .env  ·  docker compose --profile reranker --profile qdrant up -d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94360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01168" y="0"/>
            <a:ext cx="8778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RTX PRO 6000 Blackwell — Three Editions Compared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8600" y="713232"/>
            <a:ext cx="285292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28600" y="713232"/>
            <a:ext cx="2852928" cy="566928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713232"/>
            <a:ext cx="2670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🖥  Workstation Edition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1033272"/>
            <a:ext cx="26700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</a:rPr>
              <a:t>★  Benchmarked on brev.nvidia.com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38328" y="1371600"/>
            <a:ext cx="713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</a:rPr>
              <a:t>TDP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69848" y="1371600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600 W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38328" y="1673352"/>
            <a:ext cx="713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</a:rPr>
              <a:t>Cooling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69848" y="1673352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Active (large axial fan)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38328" y="1975104"/>
            <a:ext cx="713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</a:rPr>
              <a:t>Form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69848" y="1975104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Desktop workstation · 3-slot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38328" y="2276856"/>
            <a:ext cx="713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</a:rPr>
              <a:t>Display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69848" y="2276856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Yes — 4× DisplayPort 2.1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38328" y="2578608"/>
            <a:ext cx="713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</a:rPr>
              <a:t>Density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69848" y="2578608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1 per system (typical)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38328" y="2880360"/>
            <a:ext cx="713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</a:rPr>
              <a:t>Price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69848" y="2880360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~$7,999 – $9,200 (retail)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01752" y="3200400"/>
            <a:ext cx="2706624" cy="658368"/>
          </a:xfrm>
          <a:prstGeom prst="rect">
            <a:avLst/>
          </a:prstGeom>
          <a:solidFill>
            <a:srgbClr val="F0FF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38328" y="3218688"/>
            <a:ext cx="2633472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1E293B"/>
                </a:solidFill>
              </a:rPr>
              <a:t>vLLM inference:</a:t>
            </a:r>
            <a:endParaRPr lang="en-US" sz="900" dirty="0"/>
          </a:p>
          <a:p>
            <a:pPr marL="0" indent="0">
              <a:buNone/>
            </a:pPr>
            <a:r>
              <a:rPr lang="en-US" sz="900" i="1" dirty="0">
                <a:solidFill>
                  <a:srgbClr val="1E293B"/>
                </a:solidFill>
              </a:rPr>
              <a:t>Full sustained throughput · Confirm edition: nvidia-smi -q | grep "Product Name"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18688" y="713232"/>
            <a:ext cx="285292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218688" y="713232"/>
            <a:ext cx="2852928" cy="56692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310128" y="713232"/>
            <a:ext cx="2670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⚡  Max-Q Edition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310128" y="1033272"/>
            <a:ext cx="26700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</a:rPr>
              <a:t>Multi-GPU density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328416" y="1371600"/>
            <a:ext cx="713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</a:rPr>
              <a:t>TDP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059936" y="1371600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300 W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328416" y="1673352"/>
            <a:ext cx="713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</a:rPr>
              <a:t>Cooling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059936" y="1673352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Blower (front-exhaust)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328416" y="1975104"/>
            <a:ext cx="713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</a:rPr>
              <a:t>Form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059936" y="1975104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Dense WS or mobile · 2-slot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328416" y="2276856"/>
            <a:ext cx="713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</a:rPr>
              <a:t>Display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059936" y="2276856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Yes — 4× DisplayPort 2.1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328416" y="2578608"/>
            <a:ext cx="713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</a:rPr>
              <a:t>Density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059936" y="2578608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Up to 4 per system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328416" y="2880360"/>
            <a:ext cx="713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</a:rPr>
              <a:t>Price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059936" y="2880360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~$8,000 – $9,200 (retail)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291840" y="3200400"/>
            <a:ext cx="2706624" cy="658368"/>
          </a:xfrm>
          <a:prstGeom prst="rect">
            <a:avLst/>
          </a:prstGeom>
          <a:solidFill>
            <a:srgbClr val="F0FFFE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3328416" y="3218688"/>
            <a:ext cx="2633472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1E293B"/>
                </a:solidFill>
              </a:rPr>
              <a:t>vLLM inference:</a:t>
            </a:r>
            <a:endParaRPr lang="en-US" sz="900" dirty="0"/>
          </a:p>
          <a:p>
            <a:pPr marL="0" indent="0">
              <a:buNone/>
            </a:pPr>
            <a:r>
              <a:rPr lang="en-US" sz="900" i="1" dirty="0">
                <a:solidFill>
                  <a:srgbClr val="1E293B"/>
                </a:solidFill>
              </a:rPr>
              <a:t>~50–70% throughput vs 600W editions under sustained load; gap smaller for memory-bound decode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208776" y="713232"/>
            <a:ext cx="285292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6208776" y="713232"/>
            <a:ext cx="2852928" cy="5669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300216" y="713232"/>
            <a:ext cx="2670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🖧  Server Edition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300216" y="1033272"/>
            <a:ext cx="26700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</a:rPr>
              <a:t>Data-center / cloud · Likely on Brev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318504" y="1371600"/>
            <a:ext cx="713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</a:rPr>
              <a:t>TDP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050024" y="1371600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600 W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318504" y="1673352"/>
            <a:ext cx="713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</a:rPr>
              <a:t>Cooling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050024" y="1673352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Passive (forced rack air)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318504" y="1975104"/>
            <a:ext cx="713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</a:rPr>
              <a:t>Form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050024" y="1975104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Rack / data center · 2U passive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318504" y="2276856"/>
            <a:ext cx="713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</a:rPr>
              <a:t>Display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7050024" y="2276856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None (headless)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318504" y="2578608"/>
            <a:ext cx="713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</a:rPr>
              <a:t>Density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7050024" y="2578608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Multiple per server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6318504" y="2880360"/>
            <a:ext cx="713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</a:rPr>
              <a:t>Price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7050024" y="2880360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OEM / B2B pricing (integrators)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6281928" y="3200400"/>
            <a:ext cx="2706624" cy="658368"/>
          </a:xfrm>
          <a:prstGeom prst="rect">
            <a:avLst/>
          </a:prstGeom>
          <a:solidFill>
            <a:srgbClr val="FFF7ED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6318504" y="3218688"/>
            <a:ext cx="2633472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1E293B"/>
                </a:solidFill>
              </a:rPr>
              <a:t>vLLM inference:</a:t>
            </a:r>
            <a:endParaRPr lang="en-US" sz="900" dirty="0"/>
          </a:p>
          <a:p>
            <a:pPr marL="0" indent="0">
              <a:buNone/>
            </a:pPr>
            <a:r>
              <a:rPr lang="en-US" sz="900" i="1" dirty="0">
                <a:solidFill>
                  <a:srgbClr val="1E293B"/>
                </a:solidFill>
              </a:rPr>
              <a:t>Full throughput = Workstation Ed. · Brev uses rack infra → Server Ed. most likely on cloud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228600" y="4005072"/>
            <a:ext cx="8686800" cy="3200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274320" y="4005072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D4ED8"/>
                </a:solidFill>
              </a:rPr>
              <a:t>Identify your edition:   nvidia-smi --query-gpu=name,power.limit,display_mode --format=csv,noheader   →   300W = Max-Q  ·  600W + display disabled = Server  ·  600W + display enabled = Workstation</a:t>
            </a:r>
            <a:endParaRPr lang="en-US" sz="900" dirty="0"/>
          </a:p>
        </p:txBody>
      </p:sp>
      <p:graphicFrame>
        <p:nvGraphicFramePr>
          <p:cNvPr id="6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4370832"/>
          <a:ext cx="8686800" cy="694944"/>
        </p:xfrm>
        <a:graphic>
          <a:graphicData uri="http://schemas.openxmlformats.org/drawingml/2006/table">
            <a:tbl>
              <a:tblPr/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VRAM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Memory BW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CUDA Cores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FP32 peak (600W)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AI Tensor FP4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Architecture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96 GB GDDR7 ECC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76B900"/>
                          </a:solidFill>
                        </a:rPr>
                        <a:t>1,792 GB/s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24,064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~125 TFLOPS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EA5E9"/>
                          </a:solidFill>
                        </a:rPr>
                        <a:t>~4,000 TOPS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Blackwell GB202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94360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01168" y="0"/>
            <a:ext cx="8778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Benchmark Setup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8600" y="731520"/>
            <a:ext cx="2084832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28600" y="804672"/>
            <a:ext cx="2084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76B900"/>
                </a:solidFill>
              </a:rPr>
              <a:t>HARDWARE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28600" y="1078992"/>
            <a:ext cx="20848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RTX PRO 6000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Blackwell · 96 GB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731520"/>
            <a:ext cx="2084832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450592" y="804672"/>
            <a:ext cx="2084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76B900"/>
                </a:solidFill>
              </a:rPr>
              <a:t>MODEL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450592" y="1078992"/>
            <a:ext cx="20848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Nemotron-3-Nano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30B · NVFP4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72584" y="731520"/>
            <a:ext cx="2084832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672584" y="804672"/>
            <a:ext cx="2084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76B900"/>
                </a:solidFill>
              </a:rPr>
              <a:t>TOOL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672584" y="1078992"/>
            <a:ext cx="20848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Locust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RAG : PLAIN = 3 : 1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94576" y="731520"/>
            <a:ext cx="2084832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894576" y="804672"/>
            <a:ext cx="2084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76B900"/>
                </a:solidFill>
              </a:rPr>
              <a:t>KB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894576" y="1078992"/>
            <a:ext cx="20848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Nürburgring FAQ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8 questions · hybrid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74320" y="1993392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Key Metrics</a:t>
            </a:r>
            <a:endParaRPr lang="en-US" sz="14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395728"/>
          <a:ext cx="8595360" cy="914400"/>
        </p:xfrm>
        <a:graphic>
          <a:graphicData uri="http://schemas.openxmlformats.org/drawingml/2006/table">
            <a:tbl>
              <a:tblPr/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03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76B900"/>
                          </a:solidFill>
                        </a:rPr>
                        <a:t>TTFT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Time To First Token — from request send to first streamed token (ms)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EA5E9"/>
                          </a:solidFill>
                        </a:rPr>
                        <a:t>ITL avg / p95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Inter-Token Latency — streaming smoothness; high p95/avg ratio (&gt; 3×) indicates stalls or VRAM pressure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TPS (ms/token)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Output throughput — answer-length-neutral metric; lower is faster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E2E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End-to-end latency: RAG retrieval + full token generation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</a:rPr>
                        <a:t>RAG Overhead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TTFT(RAG) − TTFT(PLAIN) — isolates the pure cost of vector retrieval + reranking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94360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01168" y="0"/>
            <a:ext cx="8778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Run 1 — 10 Concurrent Users  (-u 10 -r 2 --run-time 60s)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01168" y="731520"/>
            <a:ext cx="16459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01168" y="77724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9E0B"/>
                </a:solidFill>
              </a:rPr>
              <a:t>10.4s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01168" y="1335024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RAG TTFT avg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965960" y="731520"/>
            <a:ext cx="16459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965960" y="77724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EA5E9"/>
                </a:solidFill>
              </a:rPr>
              <a:t>3.2s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965960" y="1335024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PLAIN TTFT avg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730752" y="731520"/>
            <a:ext cx="16459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730752" y="77724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F4444"/>
                </a:solidFill>
              </a:rPr>
              <a:t>8.4s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730752" y="1335024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RAG Overhead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95544" y="731520"/>
            <a:ext cx="16459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95544" y="77724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76B900"/>
                </a:solidFill>
              </a:rPr>
              <a:t>10ms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5495544" y="1335024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ITL avg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260336" y="731520"/>
            <a:ext cx="16459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260336" y="77724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6A34A"/>
                </a:solidFill>
              </a:rPr>
              <a:t>0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7260336" y="1335024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Failures</a:t>
            </a:r>
            <a:endParaRPr lang="en-US" sz="10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874520"/>
          <a:ext cx="8595360" cy="91440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PLAIN (no KB)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RAG (with KB)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Requests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29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TTFT avg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3,249 ms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</a:rPr>
                        <a:t>10,374 ms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TTFT p50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3,000 ms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9,500 ms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TTFT p95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6,000 ms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16,000 ms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E2E avg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19,460 ms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11,803 ms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ITL avg / p95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10ms / 12ms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10ms / 13ms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TPS avg (ms/token)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3 ms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29 ms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RAG Overhead avg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F4444"/>
                          </a:solidFill>
                        </a:rPr>
                        <a:t>8,440 ms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94360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01168" y="0"/>
            <a:ext cx="8778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Run 2 — 100 Concurrent Users  (-u 100 -r 10 --run-time 120s)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01168" y="731520"/>
            <a:ext cx="16459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01168" y="77724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F4444"/>
                </a:solidFill>
              </a:rPr>
              <a:t>50.5s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01168" y="1335024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RAG TTFT avg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965960" y="731520"/>
            <a:ext cx="16459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965960" y="77724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9E0B"/>
                </a:solidFill>
              </a:rPr>
              <a:t>20.4s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965960" y="1335024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PLAIN TTFT avg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730752" y="731520"/>
            <a:ext cx="16459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730752" y="77724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F4444"/>
                </a:solidFill>
              </a:rPr>
              <a:t>27.1s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730752" y="1335024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RAG Overhead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95544" y="731520"/>
            <a:ext cx="16459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95544" y="77724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76B900"/>
                </a:solidFill>
              </a:rPr>
              <a:t>9.1 r/s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5495544" y="1335024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Total Throughput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260336" y="731520"/>
            <a:ext cx="16459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260336" y="77724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6A34A"/>
                </a:solidFill>
              </a:rPr>
              <a:t>0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7260336" y="1335024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Failures</a:t>
            </a:r>
            <a:endParaRPr lang="en-US" sz="10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874520"/>
          <a:ext cx="8595360" cy="91440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PLAIN (no KB)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RAG (with KB)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Requests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35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124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Throughput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0.29 req/s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1.04 req/s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TTFT avg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20,373 ms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F4444"/>
                          </a:solidFill>
                        </a:rPr>
                        <a:t>50,497 ms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TTFT p50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23,000 ms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55,000 ms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TTFT p95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40,000 ms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67,000 ms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E2E avg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45,524 ms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52,475 ms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ITL avg / p95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17ms / 41ms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16ms / 51ms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RAG Overhead avg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F4444"/>
                          </a:solidFill>
                        </a:rPr>
                        <a:t>27,148 ms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94360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01168" y="0"/>
            <a:ext cx="8778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10 vs 100 Concurrent Users — Scaling Behaviour</a:t>
            </a:r>
            <a:endParaRPr lang="en-US" sz="20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731520"/>
          <a:ext cx="548640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989320" y="777240"/>
            <a:ext cx="2926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989320" y="868680"/>
            <a:ext cx="1005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76B900"/>
                </a:solidFill>
              </a:rPr>
              <a:t>+2.3×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040880" y="85039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Total Throughput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040880" y="1280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3.9 → 9.1 req/s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989320" y="1828800"/>
            <a:ext cx="2926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989320" y="1920240"/>
            <a:ext cx="1005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F4444"/>
                </a:solidFill>
              </a:rPr>
              <a:t>+4.9×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7040880" y="190195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RAG TTFT avg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040880" y="23317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10.4s → 50.5s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989320" y="2880360"/>
            <a:ext cx="2926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989320" y="2971800"/>
            <a:ext cx="1005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9E0B"/>
                </a:solidFill>
              </a:rPr>
              <a:t>+3.2×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7040880" y="295351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RAG Overhead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040880" y="33832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8.4s → 27.1s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989320" y="3931920"/>
            <a:ext cx="2926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5989320" y="4023360"/>
            <a:ext cx="1005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EA5E9"/>
                </a:solidFill>
              </a:rPr>
              <a:t>+1.6×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7040880" y="400507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ITL avg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7040880" y="44348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10ms → 16ms (stable)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94360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01168" y="0"/>
            <a:ext cx="8778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Run 2 vs Run 3 — Impact of Optimisations (100 Users)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713232"/>
            <a:ext cx="8595360" cy="5486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713232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D4ED8"/>
                </a:solidFill>
              </a:rPr>
              <a:t>Changes applied:  MAX_NUM_SEQS 32 → 64  ·  MAX_MODEL_LEN 65536 → 16384  ·  + --enable-chunked-prefill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53312"/>
          <a:ext cx="8595360" cy="914400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49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Baseline (Run 2)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Optimised (Run 3)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Delta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Total Throughput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9.1 req/s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10.3 req/s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</a:rPr>
                        <a:t>+13%  ✓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RAG TTFT avg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50,497 ms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44,080 ms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</a:rPr>
                        <a:t>-13%  ✓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RAG TTFT p50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55,000 ms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44,000 ms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</a:rPr>
                        <a:t>-20%  ✓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RAG TTFT p95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67,000 ms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64,000 ms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</a:rPr>
                        <a:t>-4%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RAG E2E avg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52,474 ms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46,907 ms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</a:rPr>
                        <a:t>-11%  ✓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RAG Overhead avg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27,148 ms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16,817 ms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</a:rPr>
                        <a:t>-38%  ✓✓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PLAIN TTFT avg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20,373 ms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28,585 ms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F4444"/>
                          </a:solidFill>
                        </a:rPr>
                        <a:t>+40%  ⚠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ITL avg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16 ms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22 ms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</a:rPr>
                        <a:t>+34%  ⚠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274320" y="48463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</a:rPr>
              <a:t>⚠ Trade-off: 64 concurrent sequences favour RAG throughput — PLAIN long-form queries compete harder for decode time, pushing ITL up for everyone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94360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01168" y="0"/>
            <a:ext cx="8778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Key Observations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731520"/>
            <a:ext cx="85953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731520"/>
            <a:ext cx="64008" cy="749808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79552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📈  Sub-linear throughput scaling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16128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+2.3× throughput for 10× more users. vLLM saturates at MAX_NUM_SEQS=32; extra users queue rather than execute in parallel.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591056"/>
            <a:ext cx="85953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74320" y="1591056"/>
            <a:ext cx="64008" cy="7498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1655064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⏱  TTFT blows up ~5× at 100 users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2020824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Dominated by queue wait time, not GPU compute. The admission bottleneck — not generation speed — drives latency under high concurrency.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450592"/>
            <a:ext cx="85953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74320" y="2450592"/>
            <a:ext cx="64008" cy="7498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25146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🎯  ITL is nearly stable (10 → 16 ms)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28803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The GPU keeps pace per token once a request starts. Architecture is sound — the bottleneck is admission, not generation throughput.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3310128"/>
            <a:ext cx="85953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74320" y="3310128"/>
            <a:ext cx="64008" cy="7498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" y="3374136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🔧  Chunked prefill cuts RAG overhead 38%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3739896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Prevents long RAG prefill phases from blocking other requests. Largest single-change gain in Run 3, delivered with one vLLM flag.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4169664"/>
            <a:ext cx="85953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74320" y="4169664"/>
            <a:ext cx="64008" cy="7498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7200" y="423367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✅  Zero failures at both concurrency levels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459943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System degrades gracefully under load — no crashes, timeouts, or errors. A stable baseline to optimise from.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94360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01168" y="0"/>
            <a:ext cx="8778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Recommendations &amp; Next Steps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01168" y="713232"/>
            <a:ext cx="2852928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01168" y="713232"/>
            <a:ext cx="2852928" cy="566928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92608" y="71323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⚡  Quick Wins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92608" y="1051560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</a:rPr>
              <a:t>Config / flag changes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38328" y="1389888"/>
            <a:ext cx="2633472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76B900"/>
                </a:solidFill>
              </a:rPr>
              <a:t>Prefix caching
</a:t>
            </a:r>
            <a:r>
              <a:rPr lang="en-US" sz="1000" dirty="0">
                <a:solidFill>
                  <a:srgbClr val="64748B"/>
                </a:solidFill>
              </a:rPr>
              <a:t>--enable-prefix-caching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Reuses KV blocks for repeated RAG context — high hit rate on small KB. Directly cuts TTFT.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8328" y="2560320"/>
            <a:ext cx="2633472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76B900"/>
                </a:solidFill>
              </a:rPr>
              <a:t>Multi-step scheduling
</a:t>
            </a:r>
            <a:r>
              <a:rPr lang="en-US" sz="1000" dirty="0">
                <a:solidFill>
                  <a:srgbClr val="64748B"/>
                </a:solidFill>
              </a:rPr>
              <a:t>--num-scheduler-steps 8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Batches decode steps per scheduler call, reducing Python overhead. Free throughput gain.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38328" y="3730752"/>
            <a:ext cx="2633472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76B900"/>
                </a:solidFill>
              </a:rPr>
              <a:t>Reranker A/B test
</a:t>
            </a:r>
            <a:r>
              <a:rPr lang="en-US" sz="1000" dirty="0">
                <a:solidFill>
                  <a:srgbClr val="64748B"/>
                </a:solidFill>
              </a:rPr>
              <a:t>Benchmark reranker-off vs on to quantify quality/latency trade-off. Could further reduce RAG overhead.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0" y="713232"/>
            <a:ext cx="2852928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00400" y="713232"/>
            <a:ext cx="2852928" cy="56692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91840" y="71323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🛠  Medium Effort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91840" y="1051560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</a:rPr>
              <a:t>Architecture additions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37560" y="1389888"/>
            <a:ext cx="2633472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EA5E9"/>
                </a:solidFill>
              </a:rPr>
              <a:t>Semantic response cache
</a:t>
            </a:r>
            <a:r>
              <a:rPr lang="en-US" sz="1000" dirty="0">
                <a:solidFill>
                  <a:srgbClr val="64748B"/>
                </a:solidFill>
              </a:rPr>
              <a:t>Redis + similarity check in front of Open WebUI. Near-zero latency for repeated queries; removes them from the vLLM queue.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37560" y="2560320"/>
            <a:ext cx="2633472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EA5E9"/>
                </a:solidFill>
              </a:rPr>
              <a:t>Request admission queue
</a:t>
            </a:r>
            <a:r>
              <a:rPr lang="en-US" sz="1000" dirty="0">
                <a:solidFill>
                  <a:srgbClr val="64748B"/>
                </a:solidFill>
              </a:rPr>
              <a:t>Nginx rate limiter admitting ~10 req/s (current capacity). Predictable queue wait instead of unpredictable 50s TTFT spikes.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99632" y="713232"/>
            <a:ext cx="2852928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199632" y="713232"/>
            <a:ext cx="2852928" cy="5669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291072" y="71323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🏗  High Impact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91072" y="1051560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</a:rPr>
              <a:t>Hardware / architecture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336792" y="1389888"/>
            <a:ext cx="2633472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</a:rPr>
              <a:t>Second GPU instance
</a:t>
            </a:r>
            <a:r>
              <a:rPr lang="en-US" sz="1000" dirty="0">
                <a:solidFill>
                  <a:srgbClr val="64748B"/>
                </a:solidFill>
              </a:rPr>
              <a:t>Linear capacity scaling — halves latency and doubles throughput at 100 users. Topology C already documented.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336792" y="2560320"/>
            <a:ext cx="2633472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</a:rPr>
              <a:t>Model routing
</a:t>
            </a:r>
            <a:r>
              <a:rPr lang="en-US" sz="1000" dirty="0">
                <a:solidFill>
                  <a:srgbClr val="64748B"/>
                </a:solidFill>
              </a:rPr>
              <a:t>7B model for grounded RAG; 30B for open-ended PLAIN queries. Frees 30B capacity where it is actually needed.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Conclusion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</a:rPr>
              <a:t>✅  Full local AI stack successfully deployed on both DGX Spark (GB10) and RTX PRO 6000 Blackwell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</a:rPr>
              <a:t>📊  Locust benchmarks confirm RTX PRO 6000 handles 100 concurrent users with 0 failures and graceful degradation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423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</a:rPr>
              <a:t>⚙  Chunked prefill + MAX_NUM_SEQS=64: +13% throughput, -38% RAG overhead at 100 concurrent users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0175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</a:rPr>
              <a:t>🚀  Immediate next: --enable-prefix-caching and --num-scheduler-steps 8 — zero downside, free performance gains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611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</a:rPr>
              <a:t>🏗  True 100-user &lt;10s RAG TTFT requires a second GPU — the architecture is already documented and ready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6B900"/>
                </a:solidFill>
              </a:rPr>
              <a:t>github.com/galleon/openwebui-vllm  ·  April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1869</Words>
  <Application>Microsoft Macintosh PowerPoint</Application>
  <PresentationFormat>On-screen Show (16:9)</PresentationFormat>
  <Paragraphs>352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Local AI Stack on NVIDIA Hardware</dc:title>
  <dc:subject>PptxGenJS Presentation</dc:subject>
  <dc:creator>Guillaume Alleon</dc:creator>
  <cp:lastModifiedBy>Guillaume Alleon</cp:lastModifiedBy>
  <cp:revision>1</cp:revision>
  <dcterms:created xsi:type="dcterms:W3CDTF">2026-04-03T19:07:07Z</dcterms:created>
  <dcterms:modified xsi:type="dcterms:W3CDTF">2026-04-03T19:10:55Z</dcterms:modified>
</cp:coreProperties>
</file>